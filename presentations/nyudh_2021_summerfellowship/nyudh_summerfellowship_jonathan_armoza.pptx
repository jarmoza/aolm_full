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4" r:id="rId4"/>
    <p:sldId id="257" r:id="rId5"/>
    <p:sldId id="258" r:id="rId6"/>
    <p:sldId id="261" r:id="rId7"/>
    <p:sldId id="267" r:id="rId8"/>
    <p:sldId id="268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4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 snapToObjects="1">
      <p:cViewPr>
        <p:scale>
          <a:sx n="141" d="100"/>
          <a:sy n="141" d="100"/>
        </p:scale>
        <p:origin x="128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8302-3678-FE4C-84F1-36A790828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DF6BD-8E79-5545-8C56-8FB54131F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C68FB-49AE-F540-8666-ED3AA1FB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AF7AB-11CB-5C4C-BD27-4FDCFE6D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8641B-6BC5-B042-8D40-AB1D803F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87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643E-659E-6C4F-B0B0-C2CF9642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0A86-4B4B-DE45-BC72-B7670E5EE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4BA08-CE37-C44E-AD4B-02865639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FC01-1387-874F-AB60-20A46398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298D-9A9B-9B40-8C1E-DCE55974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9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0974-7AAF-5249-BCC8-7931DD14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9D954-3D5F-FC46-A93B-335E41759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7C7F-BD2D-1644-91A4-656F65C3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D10C-269A-A54D-AD16-05E00FC3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DCEBC-21E6-7644-B725-E4052BA2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50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C909-260C-4D49-94B5-454B5876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2EBBD-B378-CC46-BF01-58AE216FF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43552-DD85-0E4C-919C-77705AB71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4169D-5A61-A34F-BBC6-1B290A91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1579C-BEBC-C941-AD94-F94933BA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D2058-B754-8346-AC6B-D9E82969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2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6F6C-0930-1E4C-AA3F-48252D83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743CE-3922-D440-A5BF-E122DC5BC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3C904-3197-5146-91F6-FAD9DAFC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C589B-6D2C-3440-B78B-02503E875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16D48-512D-624D-A254-EE7775736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DD7F2-8C62-D642-9ACD-370E7A85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3364A-DBFD-6A4F-A36A-9681A0FB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C022-45E0-6946-AA15-F4E75CA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E63E-F211-3D41-B2BE-AD5955C6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3C352-E26E-B245-966B-D3EA869D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76CE2-7C4D-3948-828F-416ABF75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454A2-EA05-0247-95C2-26285E1E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3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14894-53F1-EA47-BA61-67C13D8A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2E932-440A-0545-90FB-F11B08E7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3D40D-239E-CE46-BD05-9CFA51EE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30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014F-2CB2-404F-99B4-0D39021E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1026E-50BA-9F44-B77D-FE9C38AE4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A1E24-6570-4249-9996-25440675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FD310-75CA-0649-A438-73854519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E9424-2643-1843-8AFC-7F629FAF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A24A9-7534-0F46-9D96-70A9153C1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48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7CAF-16D0-E040-BBC0-29C7A48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DD421-2AE8-D54D-9476-09AD91556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B8188-A1BD-584E-B79E-6C699627C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CAEEF-BAA1-9240-B0C4-BD360363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6CD7-2429-AE4D-8C6F-0C102618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F3DA7-9F0A-5844-ACB3-2A0C2498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9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68F4-BE52-544E-954A-0CF931D7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121B6-D4FE-D746-99E2-948F30179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534A0-C6EB-A64D-9FFD-79AD7ABB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2EAEB-1EE2-D343-A456-8B1104D4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CA0BF-02B6-EE40-B528-2B1C5D68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2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DA6F8-DF91-944C-A518-005789AA3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A002F-337F-EE42-B615-7916AF4B5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E89A-DBF6-0246-A919-FDCF3171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DB464-50A9-6B44-BCF0-F66D3335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6EC18-3392-C34A-9CD3-65C7FEA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2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34459-8DB7-DC4C-9D0A-1BCE8860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6B8BF-8836-FD44-B2C6-CF5EB2F22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54FDE-0657-C846-A92A-4512BF2B3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6636D-601E-AD4B-96AE-FEC947F8B4B7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B0D7C-C829-224E-B39E-143D870B1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3B0F1-C3FF-5849-94D2-C26CDAF4E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ED8E0-8E95-F344-A6CE-E26A425EC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09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B24-66F5-E448-AFA7-F6B3398D35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Model Quality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for Digital Humanities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E417-8DB9-914C-975F-BD8A77B99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Feat. </a:t>
            </a:r>
            <a:r>
              <a:rPr lang="en-US" sz="2800" dirty="0">
                <a:solidFill>
                  <a:srgbClr val="B24CFF"/>
                </a:solidFill>
              </a:rPr>
              <a:t>Mark Twain</a:t>
            </a:r>
            <a:r>
              <a:rPr lang="en-US" sz="2800" dirty="0">
                <a:solidFill>
                  <a:schemeClr val="bg1"/>
                </a:solidFill>
              </a:rPr>
              <a:t> and the 2,300 pages of his </a:t>
            </a:r>
            <a:r>
              <a:rPr lang="en-US" sz="2800" dirty="0">
                <a:solidFill>
                  <a:srgbClr val="B24CFF"/>
                </a:solidFill>
              </a:rPr>
              <a:t>Autobiography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D10B-663D-CC4F-82BA-47DB983442D1}"/>
              </a:ext>
            </a:extLst>
          </p:cNvPr>
          <p:cNvSpPr txBox="1"/>
          <p:nvPr/>
        </p:nvSpPr>
        <p:spPr>
          <a:xfrm>
            <a:off x="7710564" y="5273972"/>
            <a:ext cx="2503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Jonathan Armoza</a:t>
            </a:r>
          </a:p>
          <a:p>
            <a:r>
              <a:rPr lang="en-US" dirty="0">
                <a:solidFill>
                  <a:schemeClr val="bg1"/>
                </a:solidFill>
              </a:rPr>
              <a:t>NYU English Department</a:t>
            </a:r>
          </a:p>
          <a:p>
            <a:r>
              <a:rPr lang="en-US" dirty="0">
                <a:solidFill>
                  <a:schemeClr val="bg1"/>
                </a:solidFill>
              </a:rPr>
              <a:t>October 7, 2021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A12ACF6-070F-FA41-A188-42A7E9D6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263" y="4727558"/>
            <a:ext cx="1453572" cy="14535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1CAA49-7D93-4D47-80F3-8A0EC10142C5}"/>
              </a:ext>
            </a:extLst>
          </p:cNvPr>
          <p:cNvSpPr txBox="1"/>
          <p:nvPr/>
        </p:nvSpPr>
        <p:spPr>
          <a:xfrm>
            <a:off x="524165" y="5735637"/>
            <a:ext cx="4315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DH Graduate Summer Fellowship</a:t>
            </a:r>
          </a:p>
        </p:txBody>
      </p:sp>
    </p:spTree>
    <p:extLst>
      <p:ext uri="{BB962C8B-B14F-4D97-AF65-F5344CB8AC3E}">
        <p14:creationId xmlns:p14="http://schemas.microsoft.com/office/powerpoint/2010/main" val="301003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84E-ECBA-6A48-94B2-1B70BA89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Information Criteria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for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5C5E9-7789-A94C-9EC9-CB41E389F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8164" cy="45661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Akaike Information Criteria</a:t>
            </a:r>
            <a:r>
              <a:rPr lang="en-US" dirty="0">
                <a:solidFill>
                  <a:schemeClr val="bg1"/>
                </a:solidFill>
              </a:rPr>
              <a:t> (AIC)</a:t>
            </a:r>
          </a:p>
          <a:p>
            <a:r>
              <a:rPr lang="en-US" dirty="0">
                <a:solidFill>
                  <a:schemeClr val="bg1"/>
                </a:solidFill>
              </a:rPr>
              <a:t>Hirotugu Akaike (1971)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Still used today in modified  and advanced forms</a:t>
            </a:r>
          </a:p>
          <a:p>
            <a:r>
              <a:rPr lang="en-US" dirty="0">
                <a:solidFill>
                  <a:schemeClr val="bg1"/>
                </a:solidFill>
              </a:rPr>
              <a:t>Estimator of prediction error</a:t>
            </a:r>
            <a:r>
              <a:rPr lang="en-US">
                <a:solidFill>
                  <a:schemeClr val="bg1"/>
                </a:solidFill>
              </a:rPr>
              <a:t>/information loss </a:t>
            </a:r>
            <a:r>
              <a:rPr lang="en-US" dirty="0">
                <a:solidFill>
                  <a:schemeClr val="bg1"/>
                </a:solidFill>
              </a:rPr>
              <a:t>– i.e. </a:t>
            </a:r>
            <a:r>
              <a:rPr lang="en-US" dirty="0">
                <a:solidFill>
                  <a:srgbClr val="00B050"/>
                </a:solidFill>
              </a:rPr>
              <a:t>Model Quality</a:t>
            </a:r>
          </a:p>
          <a:p>
            <a:r>
              <a:rPr lang="en-US" dirty="0">
                <a:solidFill>
                  <a:schemeClr val="bg1"/>
                </a:solidFill>
              </a:rPr>
              <a:t>Used when no out-of-sample data is available or small data size</a:t>
            </a:r>
          </a:p>
          <a:p>
            <a:r>
              <a:rPr lang="en-US" dirty="0">
                <a:solidFill>
                  <a:schemeClr val="bg1"/>
                </a:solidFill>
              </a:rPr>
              <a:t>An alternative/complement to traditional hypothesis testing</a:t>
            </a:r>
          </a:p>
          <a:p>
            <a:r>
              <a:rPr lang="en-US" dirty="0">
                <a:solidFill>
                  <a:schemeClr val="bg1"/>
                </a:solidFill>
              </a:rPr>
              <a:t>Among several kinds of </a:t>
            </a:r>
            <a:r>
              <a:rPr lang="en-US" dirty="0">
                <a:solidFill>
                  <a:srgbClr val="FFFF00"/>
                </a:solidFill>
              </a:rPr>
              <a:t>evidentiary bases for literary models.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A3B7C476-113C-5D4F-9145-89F399B04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51" y="2050472"/>
            <a:ext cx="4569549" cy="33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8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84E-ECBA-6A48-94B2-1B70BA89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Information Criteria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for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5C5E9-7789-A94C-9EC9-CB41E389F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i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6600" i="1" dirty="0">
                <a:solidFill>
                  <a:schemeClr val="bg1"/>
                </a:solidFill>
              </a:rPr>
              <a:t>AIC</a:t>
            </a:r>
            <a:r>
              <a:rPr lang="en-US" sz="6600" dirty="0">
                <a:solidFill>
                  <a:schemeClr val="bg1"/>
                </a:solidFill>
              </a:rPr>
              <a:t> = -2 ln(L) + 2k</a:t>
            </a: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AIC uses a model’s maximum likelihood estimation (log-likelihood) as a measure of fit</a:t>
            </a:r>
          </a:p>
          <a:p>
            <a:r>
              <a:rPr lang="en-US" dirty="0">
                <a:solidFill>
                  <a:schemeClr val="bg1"/>
                </a:solidFill>
              </a:rPr>
              <a:t>L = likelihood, k = # of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42537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3B36-32B4-9E4C-A8D2-A4833DCA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24CFF"/>
                </a:solidFill>
              </a:rPr>
              <a:t>Twain’s Autobiography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92553-EC08-2046-BB8A-2DE37250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45" y="1842634"/>
            <a:ext cx="6578600" cy="39578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Began in 1870, eventually completed 1909</a:t>
            </a:r>
          </a:p>
          <a:p>
            <a:r>
              <a:rPr lang="en-US" dirty="0">
                <a:solidFill>
                  <a:schemeClr val="bg1"/>
                </a:solidFill>
              </a:rPr>
              <a:t>Planned for bulk of the material to be published posthumously</a:t>
            </a:r>
          </a:p>
          <a:p>
            <a:r>
              <a:rPr lang="en-US" dirty="0">
                <a:solidFill>
                  <a:schemeClr val="bg1"/>
                </a:solidFill>
              </a:rPr>
              <a:t>Mark Twain Project edition</a:t>
            </a:r>
          </a:p>
          <a:p>
            <a:r>
              <a:rPr lang="en-US" dirty="0">
                <a:solidFill>
                  <a:schemeClr val="bg1"/>
                </a:solidFill>
              </a:rPr>
              <a:t>Comprehensive edition published in 3 volumes starting in 2010, one volume every 2 years</a:t>
            </a:r>
          </a:p>
          <a:p>
            <a:r>
              <a:rPr lang="en-US" dirty="0">
                <a:solidFill>
                  <a:schemeClr val="bg1"/>
                </a:solidFill>
              </a:rPr>
              <a:t>Over 2,300 pages</a:t>
            </a:r>
          </a:p>
        </p:txBody>
      </p:sp>
      <p:pic>
        <p:nvPicPr>
          <p:cNvPr id="7" name="Picture 6" descr="A person with a beard and glasses&#10;&#10;Description automatically generated with medium confidence">
            <a:extLst>
              <a:ext uri="{FF2B5EF4-FFF2-40B4-BE49-F238E27FC236}">
                <a16:creationId xmlns:a16="http://schemas.microsoft.com/office/drawing/2014/main" id="{02299380-4B53-CD49-815F-B73CB66E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239" y="2996911"/>
            <a:ext cx="2430787" cy="3495964"/>
          </a:xfrm>
          <a:prstGeom prst="rect">
            <a:avLst/>
          </a:prstGeom>
        </p:spPr>
      </p:pic>
      <p:pic>
        <p:nvPicPr>
          <p:cNvPr id="9" name="Picture 8" descr="A picture containing text, person, posing, black&#10;&#10;Description automatically generated">
            <a:extLst>
              <a:ext uri="{FF2B5EF4-FFF2-40B4-BE49-F238E27FC236}">
                <a16:creationId xmlns:a16="http://schemas.microsoft.com/office/drawing/2014/main" id="{9E28D550-847C-9645-BC5E-9443AF1AFE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0" t="994" r="3509" b="1452"/>
          <a:stretch/>
        </p:blipFill>
        <p:spPr>
          <a:xfrm>
            <a:off x="6761448" y="2996911"/>
            <a:ext cx="2499033" cy="3530651"/>
          </a:xfrm>
          <a:prstGeom prst="rect">
            <a:avLst/>
          </a:prstGeom>
        </p:spPr>
      </p:pic>
      <p:pic>
        <p:nvPicPr>
          <p:cNvPr id="11" name="Picture 10" descr="A person with a beard&#10;&#10;Description automatically generated with medium confidence">
            <a:extLst>
              <a:ext uri="{FF2B5EF4-FFF2-40B4-BE49-F238E27FC236}">
                <a16:creationId xmlns:a16="http://schemas.microsoft.com/office/drawing/2014/main" id="{4711FB7B-8234-C14A-A0B4-6E11974F69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6" r="3471"/>
          <a:stretch/>
        </p:blipFill>
        <p:spPr>
          <a:xfrm>
            <a:off x="8113794" y="198292"/>
            <a:ext cx="2435132" cy="3530651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783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20C1E830-FE3A-734F-9736-414472B99412}"/>
              </a:ext>
            </a:extLst>
          </p:cNvPr>
          <p:cNvSpPr/>
          <p:nvPr/>
        </p:nvSpPr>
        <p:spPr>
          <a:xfrm>
            <a:off x="2416854" y="243568"/>
            <a:ext cx="7641542" cy="1294201"/>
          </a:xfrm>
          <a:prstGeom prst="wedgeRoundRectCallout">
            <a:avLst>
              <a:gd name="adj1" fmla="val 34899"/>
              <a:gd name="adj2" fmla="val 85728"/>
              <a:gd name="adj3" fmla="val 16667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4425A-6E79-9848-BD79-F56030436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966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B24CFF"/>
                </a:solidFill>
              </a:rPr>
              <a:t>Aphorism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59156-2DA4-664C-B47B-BD8FED3BD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0169"/>
            <a:ext cx="6126018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Word2vec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model of Twain’s</a:t>
            </a:r>
            <a:r>
              <a:rPr lang="en-US" dirty="0">
                <a:solidFill>
                  <a:srgbClr val="B24C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Autobiography</a:t>
            </a:r>
          </a:p>
          <a:p>
            <a:r>
              <a:rPr lang="en-US" dirty="0">
                <a:solidFill>
                  <a:schemeClr val="bg1"/>
                </a:solidFill>
              </a:rPr>
              <a:t>List of Twain</a:t>
            </a:r>
            <a:r>
              <a:rPr lang="en-US" dirty="0">
                <a:solidFill>
                  <a:srgbClr val="B24C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aphorisms</a:t>
            </a:r>
          </a:p>
          <a:p>
            <a:r>
              <a:rPr lang="en-US" dirty="0">
                <a:solidFill>
                  <a:srgbClr val="00B050"/>
                </a:solidFill>
              </a:rPr>
              <a:t>Question: </a:t>
            </a:r>
            <a:r>
              <a:rPr lang="en-US" dirty="0">
                <a:solidFill>
                  <a:schemeClr val="bg1"/>
                </a:solidFill>
              </a:rPr>
              <a:t>How alike is each sentence of the autobiography to Twain’s aphorisms?</a:t>
            </a:r>
          </a:p>
          <a:p>
            <a:r>
              <a:rPr lang="en-US" dirty="0">
                <a:solidFill>
                  <a:schemeClr val="bg1"/>
                </a:solidFill>
              </a:rPr>
              <a:t>Aphorism score for each sentence</a:t>
            </a:r>
          </a:p>
        </p:txBody>
      </p:sp>
      <p:pic>
        <p:nvPicPr>
          <p:cNvPr id="4" name="Picture 3" descr="A person sitting in a chair&#10;&#10;Description automatically generated with medium confidence">
            <a:extLst>
              <a:ext uri="{FF2B5EF4-FFF2-40B4-BE49-F238E27FC236}">
                <a16:creationId xmlns:a16="http://schemas.microsoft.com/office/drawing/2014/main" id="{B541CE5D-ED05-254A-8EE8-3A8D891C6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645" y="2092015"/>
            <a:ext cx="4273155" cy="3115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7770C7-190E-1547-B15D-E56F49DAFFC2}"/>
              </a:ext>
            </a:extLst>
          </p:cNvPr>
          <p:cNvSpPr txBox="1"/>
          <p:nvPr/>
        </p:nvSpPr>
        <p:spPr>
          <a:xfrm>
            <a:off x="2804782" y="369483"/>
            <a:ext cx="71655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“One mustn’t criticize other people on grounds </a:t>
            </a:r>
          </a:p>
          <a:p>
            <a:r>
              <a:rPr lang="en-US" sz="2800" i="1" dirty="0"/>
              <a:t>where he can’t stand perpendicular himself.”</a:t>
            </a:r>
          </a:p>
        </p:txBody>
      </p:sp>
      <p:pic>
        <p:nvPicPr>
          <p:cNvPr id="7" name="Picture 6" descr="A picture containing hat, dark&#10;&#10;Description automatically generated">
            <a:extLst>
              <a:ext uri="{FF2B5EF4-FFF2-40B4-BE49-F238E27FC236}">
                <a16:creationId xmlns:a16="http://schemas.microsoft.com/office/drawing/2014/main" id="{4BB21BE4-7442-1F40-B26F-E4C249A9F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910" y="3833959"/>
            <a:ext cx="38100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4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F49B96-E748-D74D-B111-DB7FD24AB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31177" y="1147195"/>
            <a:ext cx="9921240" cy="529478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4C84E-ECBA-6A48-94B2-1B70BA89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11" y="67112"/>
            <a:ext cx="10093927" cy="129063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24CFF"/>
                </a:solidFill>
              </a:rPr>
              <a:t>Aphorism scores </a:t>
            </a:r>
            <a:r>
              <a:rPr lang="en-US" sz="4000" dirty="0">
                <a:solidFill>
                  <a:schemeClr val="bg1"/>
                </a:solidFill>
              </a:rPr>
              <a:t>for</a:t>
            </a:r>
            <a:r>
              <a:rPr lang="en-US" sz="4000" dirty="0">
                <a:solidFill>
                  <a:srgbClr val="B24CFF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Autobiography’s sentences</a:t>
            </a:r>
          </a:p>
        </p:txBody>
      </p:sp>
    </p:spTree>
    <p:extLst>
      <p:ext uri="{BB962C8B-B14F-4D97-AF65-F5344CB8AC3E}">
        <p14:creationId xmlns:p14="http://schemas.microsoft.com/office/powerpoint/2010/main" val="216626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F49B96-E748-D74D-B111-DB7FD24AB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64136" y="1115736"/>
            <a:ext cx="9944434" cy="529851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4C84E-ECBA-6A48-94B2-1B70BA89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11" y="67112"/>
            <a:ext cx="10093927" cy="129063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Using </a:t>
            </a:r>
            <a:r>
              <a:rPr lang="en-US" sz="4000" dirty="0">
                <a:solidFill>
                  <a:srgbClr val="00B050"/>
                </a:solidFill>
              </a:rPr>
              <a:t>AIC </a:t>
            </a:r>
            <a:r>
              <a:rPr lang="en-US" sz="4000" dirty="0">
                <a:solidFill>
                  <a:schemeClr val="bg1"/>
                </a:solidFill>
              </a:rPr>
              <a:t>to</a:t>
            </a:r>
            <a:r>
              <a:rPr lang="en-US" sz="4000" dirty="0">
                <a:solidFill>
                  <a:srgbClr val="00B050"/>
                </a:solidFill>
              </a:rPr>
              <a:t> Select Models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5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F49B96-E748-D74D-B111-DB7FD24AB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23358" y="1051082"/>
            <a:ext cx="9773333" cy="5497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4C84E-ECBA-6A48-94B2-1B70BA89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11" y="67112"/>
            <a:ext cx="10093927" cy="129063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More Accurate Result</a:t>
            </a:r>
            <a:r>
              <a:rPr lang="en-US" sz="4000" dirty="0">
                <a:solidFill>
                  <a:srgbClr val="00B050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with </a:t>
            </a:r>
            <a:r>
              <a:rPr lang="en-US" sz="4000" dirty="0">
                <a:solidFill>
                  <a:srgbClr val="00B050"/>
                </a:solidFill>
              </a:rPr>
              <a:t>Statistical Basis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51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4AC0E7F0-F059-AF41-BD9D-DCCBBBC75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465" y="1730905"/>
            <a:ext cx="2593170" cy="2593170"/>
          </a:xfrm>
          <a:prstGeom prst="rect">
            <a:avLst/>
          </a:prstGeom>
        </p:spPr>
      </p:pic>
      <p:pic>
        <p:nvPicPr>
          <p:cNvPr id="12" name="Picture 11" descr="A picture containing person, person&#10;&#10;Description automatically generated">
            <a:extLst>
              <a:ext uri="{FF2B5EF4-FFF2-40B4-BE49-F238E27FC236}">
                <a16:creationId xmlns:a16="http://schemas.microsoft.com/office/drawing/2014/main" id="{B163D5F1-21C8-7748-BD1E-7C93D1518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1545"/>
            <a:ext cx="4469122" cy="37464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AB00-C290-8C46-837A-C73A3110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7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Thanks, and Stay Tuned!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859A-D579-C546-BC54-1B4A0E4C1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1868"/>
            <a:ext cx="10102849" cy="123158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Twitter: </a:t>
            </a:r>
            <a:r>
              <a:rPr lang="en-US" dirty="0">
                <a:solidFill>
                  <a:schemeClr val="bg1"/>
                </a:solidFill>
              </a:rPr>
              <a:t>jonathangrams</a:t>
            </a:r>
            <a:endParaRPr lang="en-US" dirty="0">
              <a:solidFill>
                <a:srgbClr val="B24CFF"/>
              </a:solidFill>
            </a:endParaRPr>
          </a:p>
          <a:p>
            <a:r>
              <a:rPr lang="en-US" dirty="0">
                <a:solidFill>
                  <a:srgbClr val="B24CFF"/>
                </a:solidFill>
              </a:rPr>
              <a:t>Github:</a:t>
            </a:r>
            <a:r>
              <a:rPr lang="en-US" dirty="0">
                <a:solidFill>
                  <a:schemeClr val="bg1"/>
                </a:solidFill>
              </a:rPr>
              <a:t> github.com/jarmoza/twain_autobio_modelquality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3C72BBB7-D58F-7B4B-AB25-5029FAEA6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47" y="3268532"/>
            <a:ext cx="2593170" cy="2593170"/>
          </a:xfrm>
          <a:prstGeom prst="rect">
            <a:avLst/>
          </a:prstGeom>
        </p:spPr>
      </p:pic>
      <p:pic>
        <p:nvPicPr>
          <p:cNvPr id="25" name="Picture 24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4AB8527A-5A0D-A04F-81CB-301C3627D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300" y="3403600"/>
            <a:ext cx="3060700" cy="345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F3EF78-2713-E746-B364-559E88233806}"/>
              </a:ext>
            </a:extLst>
          </p:cNvPr>
          <p:cNvSpPr txBox="1"/>
          <p:nvPr/>
        </p:nvSpPr>
        <p:spPr>
          <a:xfrm>
            <a:off x="2234561" y="2467437"/>
            <a:ext cx="7165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“Present conditions exhibit curious anomalies.”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E4BED4-F31A-984D-9DC7-C3080D035C2C}"/>
              </a:ext>
            </a:extLst>
          </p:cNvPr>
          <p:cNvSpPr txBox="1"/>
          <p:nvPr/>
        </p:nvSpPr>
        <p:spPr>
          <a:xfrm>
            <a:off x="3549945" y="3369968"/>
            <a:ext cx="6035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AIC suggests Generalized Least Squares </a:t>
            </a:r>
          </a:p>
          <a:p>
            <a:r>
              <a:rPr lang="en-US" sz="2800" i="1" dirty="0">
                <a:solidFill>
                  <a:schemeClr val="bg1"/>
                </a:solidFill>
              </a:rPr>
              <a:t>with autoregressive covariance.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A4FDC7-2659-814E-AC89-055384B126D9}"/>
              </a:ext>
            </a:extLst>
          </p:cNvPr>
          <p:cNvSpPr txBox="1"/>
          <p:nvPr/>
        </p:nvSpPr>
        <p:spPr>
          <a:xfrm>
            <a:off x="3710934" y="4806207"/>
            <a:ext cx="305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That’s what I said!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5A4450-2010-8743-BEA9-C94DD7B352A7}"/>
              </a:ext>
            </a:extLst>
          </p:cNvPr>
          <p:cNvCxnSpPr>
            <a:cxnSpLocks/>
          </p:cNvCxnSpPr>
          <p:nvPr/>
        </p:nvCxnSpPr>
        <p:spPr>
          <a:xfrm flipV="1">
            <a:off x="1935359" y="3007082"/>
            <a:ext cx="429150" cy="56325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644B37-B2EA-C941-820A-D465E75F8A13}"/>
              </a:ext>
            </a:extLst>
          </p:cNvPr>
          <p:cNvCxnSpPr>
            <a:cxnSpLocks/>
          </p:cNvCxnSpPr>
          <p:nvPr/>
        </p:nvCxnSpPr>
        <p:spPr>
          <a:xfrm flipH="1" flipV="1">
            <a:off x="8440384" y="4230255"/>
            <a:ext cx="536924" cy="47313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6E54335-7531-F344-8FB3-52397F1245D6}"/>
              </a:ext>
            </a:extLst>
          </p:cNvPr>
          <p:cNvCxnSpPr>
            <a:cxnSpLocks/>
          </p:cNvCxnSpPr>
          <p:nvPr/>
        </p:nvCxnSpPr>
        <p:spPr>
          <a:xfrm flipV="1">
            <a:off x="2883847" y="5067817"/>
            <a:ext cx="666098" cy="14149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75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282</Words>
  <Application>Microsoft Macintosh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Model Quality for Digital Humanities</vt:lpstr>
      <vt:lpstr>Information Criteria for Model Selection</vt:lpstr>
      <vt:lpstr>Information Criteria for Model Selection</vt:lpstr>
      <vt:lpstr>Twain’s Autobiography</vt:lpstr>
      <vt:lpstr>Aphorism Detector</vt:lpstr>
      <vt:lpstr>Aphorism scores for Autobiography’s sentences</vt:lpstr>
      <vt:lpstr>Using AIC to Select Models</vt:lpstr>
      <vt:lpstr>More Accurate Result with Statistical Basis</vt:lpstr>
      <vt:lpstr>Thanks, and Stay Tuned!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Selection Criteria for Digital Humanities</dc:title>
  <dc:creator>Jonathan Armoza</dc:creator>
  <cp:lastModifiedBy>Jonathan Armoza</cp:lastModifiedBy>
  <cp:revision>37</cp:revision>
  <dcterms:created xsi:type="dcterms:W3CDTF">2021-10-07T01:53:37Z</dcterms:created>
  <dcterms:modified xsi:type="dcterms:W3CDTF">2021-10-07T20:00:08Z</dcterms:modified>
</cp:coreProperties>
</file>